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28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34095" y="-1828800"/>
            <a:ext cx="5943600" cy="5943600"/>
          </a:xfrm>
          <a:prstGeom prst="ellipse">
            <a:avLst/>
          </a:prstGeom>
          <a:solidFill>
            <a:srgbClr val="0F766E">
              <a:alpha val="40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Tips &amp; Tricks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Climate Science Research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92608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81736" y="4526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Ayon Roy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943600"/>
            <a:ext cx="11094415" cy="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8640" y="6080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r>
              <a:rPr lang="en-US" sz="14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62495" y="6080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University   |   Summer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91440" cy="1325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41248" y="1837944"/>
            <a:ext cx="658368" cy="6583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Landscape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scientific AI tools &amp; climate-specific 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150876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45352" y="1508760"/>
            <a:ext cx="91440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537960" y="1837944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37960" y="1837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42632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42632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RCTF framework, advanced patterns, climate examples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9466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91440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41248" y="3346704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41248" y="33467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Coding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4592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xarray, debugging, code generation with 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45352" y="301752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45352" y="3017520"/>
            <a:ext cx="91440" cy="1325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537960" y="3346704"/>
            <a:ext cx="658368" cy="6583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37960" y="33467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42632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Writing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342632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Finding, reading, synthesizing papers; drafting prose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9144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41248" y="4855464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41248" y="4855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4592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Workflows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64592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Reanalysis, GIS, CMIP6, remote sensing, ML for climate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45352" y="452628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245352" y="4526280"/>
            <a:ext cx="91440" cy="132588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537960" y="4855464"/>
            <a:ext cx="658368" cy="65836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537960" y="4855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342632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Best Practices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342632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Hallucinations, citations, privacy, attribution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  <p:sp>
        <p:nvSpPr>
          <p:cNvPr id="49" name="Text 47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Landscape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of tools you'll actually use in climate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703320" cy="4160520"/>
          </a:xfrm>
          <a:prstGeom prst="rect">
            <a:avLst/>
          </a:prstGeom>
          <a:solidFill>
            <a:srgbClr val="0A1F36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70332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41401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reasoning, code, prose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3017520"/>
            <a:ext cx="3154680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22960" y="31546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4107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coding &amp; analysis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3867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GPT-4o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41239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Conversational, multimodal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5811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48371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Google Drive integration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52943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/ Mistral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555040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runnable locally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80560" y="1965960"/>
            <a:ext cx="3703320" cy="4160520"/>
          </a:xfrm>
          <a:prstGeom prst="rect">
            <a:avLst/>
          </a:prstGeom>
          <a:solidFill>
            <a:srgbClr val="0A1F36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480560" y="1965960"/>
            <a:ext cx="37033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754880" y="22402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41401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AI Tools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48640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research workflow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54880" y="3017520"/>
            <a:ext cx="315468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4754880" y="31546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754880" y="34107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your own PDFs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754880" y="3867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754880" y="41239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from papers at scale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754880" y="45811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754880" y="48371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inline citations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754880" y="52943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754880" y="555040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In-editor code completion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8412480" y="1965960"/>
            <a:ext cx="3703320" cy="4160520"/>
          </a:xfrm>
          <a:prstGeom prst="rect">
            <a:avLst/>
          </a:prstGeom>
          <a:solidFill>
            <a:srgbClr val="0A1F36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8412480" y="1965960"/>
            <a:ext cx="37033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8686800" y="22402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2414016"/>
            <a:ext cx="292608" cy="29260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941832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Climate-Specific AI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941832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for weather &amp; climate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686800" y="3017520"/>
            <a:ext cx="3154680" cy="0"/>
          </a:xfrm>
          <a:prstGeom prst="line">
            <a:avLst/>
          </a:prstGeom>
          <a:noFill/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8686800" y="31546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(DeepMind)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686800" y="34107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forecast in seconds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686800" y="3867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FourCastNet (NVIDIA)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8686800" y="41239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 faster than NWP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8686800" y="45811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Pangu-Weather (Huawei)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8686800" y="48371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tracking SOTA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8686800" y="52943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ClimaX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8686800" y="555040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foundation models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318504"/>
            <a:ext cx="256032" cy="256032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1097280" y="62179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LLMs are general-purpose assistants — you bring the domain expertise. The best workflow combines all three families.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—  PROMPT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Anatomy of an Effective Prompt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R-C-T-F framework  •  works for code, prose, analysis, and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974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6974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531620" y="210312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226771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the AI?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703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climate data scientist familiar with CMIP6 and reanalysis data..."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4846320"/>
            <a:ext cx="1965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31520" y="4937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vocabulary, tone, and assumptions.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10712" y="1874520"/>
            <a:ext cx="26974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10712" y="1874520"/>
            <a:ext cx="269748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393692" y="210312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84" y="2267712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10712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593592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situation?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593592" y="3703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ERA5 daily 2m-temperature, 1979–2023, 0.25° grid, focused on the Amazon basin."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776472" y="4846320"/>
            <a:ext cx="1965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3593592" y="4937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guessing with grounded facts.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72784" y="1874520"/>
            <a:ext cx="26974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6272784" y="1874520"/>
            <a:ext cx="269748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7255764" y="210312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2267712"/>
            <a:ext cx="402336" cy="4023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72784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55664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it do?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455664" y="3703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Python to compute seasonal anomalies relative to a 1981–2010 climatology."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638544" y="4846320"/>
            <a:ext cx="1965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6455664" y="4937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verb, one deliverable. Be unambiguous.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9134856" y="1874520"/>
            <a:ext cx="26974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9134856" y="1874520"/>
            <a:ext cx="269748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10117836" y="210312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428" y="2267712"/>
            <a:ext cx="402336" cy="40233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134856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9317736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should output look?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9317736" y="3703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 a pandas DataFrame with comments; explain in plain text after the code."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500616" y="4846320"/>
            <a:ext cx="1965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/>
          <p:nvPr/>
        </p:nvSpPr>
        <p:spPr>
          <a:xfrm>
            <a:off x="9317736" y="4937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shape so you can use it without rework.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6080760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188720" y="59893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 </a:t>
            </a:r>
            <a:r>
              <a:rPr lang="en-US" sz="11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Iterate. Start with a rough prompt → review → refine. AI conversations are dialogues, not one-shot queries. Add </a:t>
            </a:r>
            <a:r>
              <a:rPr lang="en-US" sz="11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step by step"</a:t>
            </a:r>
            <a:r>
              <a:rPr lang="en-US" sz="11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complex reasoning.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0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1AA7DFC7-DC02-4E9C-0098-57FB55570BD3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—  PROMPT EXAMPLES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dramatically different results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554480" cy="21488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554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4114800" cy="2148840"/>
          </a:xfrm>
          <a:prstGeom prst="rect">
            <a:avLst/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194560" y="187452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94767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0604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77440" y="237744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my temperature data.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874520"/>
            <a:ext cx="5212080" cy="2148840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4767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1228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583680" y="233172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climate scientist. I have monthly mean surface temperature data (°C) for 50 CMIP6 models from 1950–2100 under SSP2-4.5. Compute the multi-model ensemble mean and 5th/95th percentile spread. Return Python code using xarray and matplotlib, with clear comments and a figure suitable for a thesis chapter.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206240"/>
            <a:ext cx="1554480" cy="21488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548640" y="4206240"/>
            <a:ext cx="1554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2194560" y="4206240"/>
            <a:ext cx="4114800" cy="2148840"/>
          </a:xfrm>
          <a:prstGeom prst="rect">
            <a:avLst/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2194560" y="420624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27939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60604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377440" y="470916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this climate paper.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0" y="4206240"/>
            <a:ext cx="5212080" cy="2148840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400800" y="4206240"/>
            <a:ext cx="52120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27939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1228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583680" y="46634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attached paper in 5 bullets suitable for a graduate student in atmospheric science. Focus on: (1) research question, (2) datasets used, (3) key finding (quantitative), (4) methodology, (5) limitations acknowledged by the authors. Flag any claims I should double-check.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09904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43000" y="5989320"/>
            <a:ext cx="10500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If a knowledgeable colleague wouldn't understand your prompt without more context, neither will the AI.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36" name="Text 46">
            <a:extLst>
              <a:ext uri="{FF2B5EF4-FFF2-40B4-BE49-F238E27FC236}">
                <a16:creationId xmlns:a16="http://schemas.microsoft.com/office/drawing/2014/main" id="{36910A08-F50A-E82F-77AD-217AEA5E8F6C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—  ADVANCED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Patterns Beyond R-C-T-F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match — strong prompts usually combine 2 or 3 of these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2402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 before answering.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" y="4416552"/>
            <a:ext cx="196596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8" y="44531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"Think through this step by step, then give a final answer."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2760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5486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reasoning, debugging, multi-step derivations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07792" y="1874520"/>
            <a:ext cx="22402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090672" y="20574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9067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44952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Examples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44952" y="3337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1–3 worked examples of input → output you want.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44952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44952" y="4416552"/>
            <a:ext cx="196596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108960" y="44531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"Example 1: input X → output Y.  Now do the same for ..."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4952" y="52760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44952" y="5486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formatting, niche style transfer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66944" y="1874520"/>
            <a:ext cx="22402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449824" y="20574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4982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04104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Decomposition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04104" y="3337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big task into a checklist the model fills out.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04104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04104" y="4416552"/>
            <a:ext cx="196596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68112" y="44531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 each of the following: (a) ..., (b) ..., (c) ..."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04104" y="52760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04104" y="5486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reviews, code reviews, comparative analysis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26096" y="1874520"/>
            <a:ext cx="22402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808976" y="20574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80897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763256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Stacking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63256" y="3337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explicit do's and don'ts the output must satisfy.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63256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63256" y="4416552"/>
            <a:ext cx="196596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827264" y="44531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"Must use xarray. Must not import dask. Cite line numbers."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63256" y="52760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63256" y="5486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controlled writing, refactors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985248" y="1874520"/>
            <a:ext cx="22402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0168128" y="20574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016812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0122408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Self-Critique Loop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122408" y="3337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model evaluate and improve its own draft.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122408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122408" y="4416552"/>
            <a:ext cx="196596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0186416" y="44531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"Now critique your answer and write an improved version."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122408" y="52760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122408" y="5486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polish, finding edge cases, defensive code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these: a strong climate prompt often = Role + Context + Decomposition + Constraint stacking.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60" name="Text 46">
            <a:extLst>
              <a:ext uri="{FF2B5EF4-FFF2-40B4-BE49-F238E27FC236}">
                <a16:creationId xmlns:a16="http://schemas.microsoft.com/office/drawing/2014/main" id="{9A03B1C0-65C0-0C56-9CD2-F31A42FF47C8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—  DATA ANALYSIS &amp; CODING WITH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does well for your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keep it from quietly going off the rails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DO FOR YOUR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32257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boilerplate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3444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netCDF loading, xarray ops, pandas wrangling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2907792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03580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907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errors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2344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traceback → get explanation + fix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" y="3621024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749040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visualizations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3444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Publication-quality matplotlib / cartopy maps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4360" y="4334256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4462272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334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performance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234440" y="4626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loops, dask parallel, numba JIT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94360" y="504748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5175504"/>
            <a:ext cx="246888" cy="2468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34440" y="5047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code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234440" y="5340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docstrings &amp; inline comments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263640" y="1874520"/>
            <a:ext cx="0" cy="4572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6446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2322576"/>
            <a:ext cx="246888" cy="2468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3232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minimal reproducible examples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713232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relevant snippet, not the whole notebook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492240" y="29077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0256" y="3035808"/>
            <a:ext cx="246888" cy="2468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132320" y="2907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AI-generated code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71323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check results against known outputs or simple cases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6492240" y="362102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0256" y="3749040"/>
            <a:ext cx="246888" cy="2468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132320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your environment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713232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3.11, xarray 2024.6, pandas 2.1, cartopy 0.22"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6492240" y="433425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0256" y="4462272"/>
            <a:ext cx="246888" cy="2468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132320" y="4334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350" dirty="0"/>
          </a:p>
        </p:txBody>
      </p:sp>
      <p:sp>
        <p:nvSpPr>
          <p:cNvPr id="44" name="Text 33"/>
          <p:cNvSpPr/>
          <p:nvPr/>
        </p:nvSpPr>
        <p:spPr>
          <a:xfrm>
            <a:off x="7132320" y="4626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gives wrong units — fix it to use Kelvin throughout"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6492240" y="50474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0256" y="5175504"/>
            <a:ext cx="246888" cy="2468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7132320" y="5047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sensitive data</a:t>
            </a:r>
            <a:endParaRPr lang="en-US" sz="1350" dirty="0"/>
          </a:p>
        </p:txBody>
      </p:sp>
      <p:sp>
        <p:nvSpPr>
          <p:cNvPr id="48" name="Text 36"/>
          <p:cNvSpPr/>
          <p:nvPr/>
        </p:nvSpPr>
        <p:spPr>
          <a:xfrm>
            <a:off x="7132320" y="5340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Anonymize, sub-sample, or use mock data in prompts</a:t>
            </a:r>
            <a:endParaRPr lang="en-US" sz="1050" dirty="0"/>
          </a:p>
        </p:txBody>
      </p:sp>
      <p:sp>
        <p:nvSpPr>
          <p:cNvPr id="49" name="Shape 3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39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888CE411-CE69-F090-A3F4-A37B69DE30ED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ERA5 Data with Claude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climate-data bug, and how a good prompt finds it in 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035040" cy="4572000"/>
          </a:xfrm>
          <a:prstGeom prst="rect">
            <a:avLst/>
          </a:prstGeom>
          <a:solidFill>
            <a:srgbClr val="0B192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035040" cy="36576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933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climate_analysis.py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5577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xarray as xr
import numpy as np
</a:t>
            </a:r>
            <a:r>
              <a:rPr lang="en-US" sz="11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ERA5 reanalysis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 = xr.open_dataset(
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'era5_temp_1979_2023.nc'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50" i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BUG: This gives a wrong anomaly
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= ds.t2m - ds.t2m.mean()
</a:t>
            </a:r>
            <a:r>
              <a:rPr lang="en-US" sz="1150" i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AI-suggested fix:
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 = ds.t2m.sel(
    time=slice('1981','2010')
).mean('time')
anomaly = ds.t2m - clim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766560" y="1920240"/>
            <a:ext cx="4846320" cy="2057400"/>
          </a:xfrm>
          <a:prstGeom prst="rect">
            <a:avLst/>
          </a:prstGeom>
          <a:solidFill>
            <a:srgbClr val="0A1F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766560" y="1920240"/>
            <a:ext cx="48463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9933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903720" y="23774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temperature anomaly calculation seems wrong. ERA5 t2m monthly data 1979–2023. I want anomalies relative to the 1981–2010 climatological baseline. Here's my code: [paste code]. What's the bug, and how should I fix it?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766560" y="4069080"/>
            <a:ext cx="4846320" cy="2423160"/>
          </a:xfrm>
          <a:prstGeom prst="rect">
            <a:avLst/>
          </a:prstGeom>
          <a:solidFill>
            <a:srgbClr val="0A1F3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766560" y="4069080"/>
            <a:ext cx="48463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1422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804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903720" y="45262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.mean() 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</a:t>
            </a: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dim='time' 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over ALL dimensions, collapsing space too.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to subset to the baseline period </a:t>
            </a: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compute the temporal mean.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seasonal anomalies, use </a:t>
            </a: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.groupby('time.month')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monthly climatologies.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—  LITERATURE REVIEW &amp; SCIENTIFIC WRITING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AI-augmented research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— and the line between safe and risky 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00200" y="16002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40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Papers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Scholar, Perplexity,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Papers, Litmaps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260146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83280" y="1874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434840" y="16002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4348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240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Extract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1188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Elicit, Claude, NotebookLM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methods, findings, jargon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601468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17920" y="1874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7269480" y="16002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72694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2402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4652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results, find gaps,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narrative arc</a:t>
            </a:r>
            <a:endParaRPr lang="en-US" sz="10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2601468"/>
            <a:ext cx="237744" cy="2377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052560" y="1874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10104120" y="16002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/>
          <p:nvPr/>
        </p:nvSpPr>
        <p:spPr>
          <a:xfrm>
            <a:off x="101041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224028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7840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&amp; Refine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928116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→ you edit,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fact &amp; citation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548640" y="4023360"/>
            <a:ext cx="5486400" cy="233172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548640" y="4023360"/>
            <a:ext cx="54864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114800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05840" y="4023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777240" y="45262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understand unfamiliar methods &amp; jargon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counter-arguments to a paper's claims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format citations — then verify against the source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simpler explanations of dense statistics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AI cluster many papers by methodology or finding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6172200" y="4023360"/>
            <a:ext cx="5486400" cy="23317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29"/>
          <p:cNvSpPr/>
          <p:nvPr/>
        </p:nvSpPr>
        <p:spPr>
          <a:xfrm>
            <a:off x="6172200" y="4023360"/>
            <a:ext cx="54864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4114800"/>
            <a:ext cx="237744" cy="23774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629400" y="4023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400" dirty="0"/>
          </a:p>
        </p:txBody>
      </p:sp>
      <p:sp>
        <p:nvSpPr>
          <p:cNvPr id="42" name="Text 31"/>
          <p:cNvSpPr/>
          <p:nvPr/>
        </p:nvSpPr>
        <p:spPr>
          <a:xfrm>
            <a:off x="6400800" y="45262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AI to recall accurate paper citations from memory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AI-generated text without careful human review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model's knowledge is current (check cutoff)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invent statistics or experimental results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reading the actual paper — abstracts mislead</a:t>
            </a:r>
            <a:endParaRPr lang="en-US" sz="1150" dirty="0"/>
          </a:p>
        </p:txBody>
      </p:sp>
      <p:sp>
        <p:nvSpPr>
          <p:cNvPr id="43" name="Shape 3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4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655CA46C-775E-5FC0-6D8F-4BEB9433BFB6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—  CLIMATE-SPECIFIC AI WORKFLOWS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Applications by Data Type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you can copy into ChatGPT or Claude this afternoon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441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560320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485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Reanalysis Data  (ERA5, MERRA-2)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91840" y="1965960"/>
            <a:ext cx="7802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"Write Python to download ERA5 daily 2m temperature for the Amazon basin using the CDS API."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"Calculate JJA precipitation trends 1980–2023 with a Mann-Kendall test and Theil-Sen slope."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"Identify heatwave events exceeding the local 95th percentile for ≥3 consecutive days."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1109441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256032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645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3474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 &amp;  Spatial Analysis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291840" y="3337560"/>
            <a:ext cx="7802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"Generate a cartopy map of North Atlantic SST anomalies with stippling for p&lt;0.05 significance."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"Clip a MODIS LST raster to the Congo Basin shapefile using rioxarray; preserve the projection."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"Compute an area-weighted mean over an irregular domain using cos(lat) weights."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617720"/>
            <a:ext cx="1109441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48640" y="4617720"/>
            <a:ext cx="2560320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8805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4846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Model Output  (CMIP6)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291840" y="4709160"/>
            <a:ext cx="7802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"Regrid 12 CMIP6 models from native grid to common 1°×1° using xESMF conservative regridding."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"Compute the ENSO Niño 3.4 index from SST anomalies with a 5-month rolling mean."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"Bias-correct projected temperature using quantile mapping against CRU observations."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0441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59436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Superpower:  Ask the AI to write the exact API call, unit conversion, or statistical test you need — it knows the libraries.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27" name="Text 46">
            <a:extLst>
              <a:ext uri="{FF2B5EF4-FFF2-40B4-BE49-F238E27FC236}">
                <a16:creationId xmlns:a16="http://schemas.microsoft.com/office/drawing/2014/main" id="{4BFEEA9C-315F-6E16-3F4F-2E2445AC7797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Foundation Models for Weather &amp; Climate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giants now competing with operational NWP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7033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GraphCast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forecast in &lt;1 min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Medium-range NWP, extreme events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16552" y="1874520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416552" y="1874520"/>
            <a:ext cx="37033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645152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Pangu-Weather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45152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56032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65192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ECMWF on many metrics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645152" y="30175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645152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NWP, cyclone tracking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284464" y="1874520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8284464" y="1874520"/>
            <a:ext cx="37033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8513064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FourCastNet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513064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560320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833104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 faster than NWP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513064" y="30175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513064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generation, uncertainty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48640" y="4096512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548640" y="4096512"/>
            <a:ext cx="37033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777240" y="4096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Aurora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777240" y="4096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</a:t>
            </a:r>
            <a:endParaRPr lang="en-US" sz="10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82312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97280" y="4736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across resolutions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77240" y="52395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77240" y="5468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quality, ocean, climate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4416552" y="4096512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3"/>
          <p:cNvSpPr/>
          <p:nvPr/>
        </p:nvSpPr>
        <p:spPr>
          <a:xfrm>
            <a:off x="4416552" y="4096512"/>
            <a:ext cx="3703320" cy="45720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4"/>
          <p:cNvSpPr/>
          <p:nvPr/>
        </p:nvSpPr>
        <p:spPr>
          <a:xfrm>
            <a:off x="4645152" y="4096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ClimaX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4645152" y="4096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UMD</a:t>
            </a:r>
            <a:endParaRPr lang="en-US" sz="100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4782312"/>
            <a:ext cx="256032" cy="25603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965192" y="4736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foundation model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4645152" y="52395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4645152" y="5468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any climate task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8284464" y="4096512"/>
            <a:ext cx="37033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0"/>
          <p:cNvSpPr/>
          <p:nvPr/>
        </p:nvSpPr>
        <p:spPr>
          <a:xfrm>
            <a:off x="8284464" y="4096512"/>
            <a:ext cx="37033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1"/>
          <p:cNvSpPr/>
          <p:nvPr/>
        </p:nvSpPr>
        <p:spPr>
          <a:xfrm>
            <a:off x="8513064" y="4096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Prithvi-WxC</a:t>
            </a:r>
            <a:endParaRPr lang="en-US" sz="1600" dirty="0"/>
          </a:p>
        </p:txBody>
      </p:sp>
      <p:sp>
        <p:nvSpPr>
          <p:cNvPr id="49" name="Text 42"/>
          <p:cNvSpPr/>
          <p:nvPr/>
        </p:nvSpPr>
        <p:spPr>
          <a:xfrm>
            <a:off x="8513064" y="4096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/ NASA</a:t>
            </a:r>
            <a:endParaRPr lang="en-US" sz="10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4782312"/>
            <a:ext cx="256032" cy="25603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8833104" y="4736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2.3B params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8513064" y="52395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8513064" y="5468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downstream tasks</a:t>
            </a:r>
            <a:endParaRPr lang="en-US" sz="1150" dirty="0"/>
          </a:p>
        </p:txBody>
      </p:sp>
      <p:sp>
        <p:nvSpPr>
          <p:cNvPr id="54" name="Shape 4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8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57" name="Text 46">
            <a:extLst>
              <a:ext uri="{FF2B5EF4-FFF2-40B4-BE49-F238E27FC236}">
                <a16:creationId xmlns:a16="http://schemas.microsoft.com/office/drawing/2014/main" id="{77F6D0FF-B97F-1396-26C8-2A6193FBA29C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&amp; Responsible AI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issues every climate researcher should think about — risk level marked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703320" cy="2286000"/>
          </a:xfrm>
          <a:prstGeom prst="rect">
            <a:avLst/>
          </a:prstGeom>
          <a:solidFill>
            <a:srgbClr val="0A1F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67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22402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383280" y="22402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28346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confidently produces false facts, fake citations, or wrong code. Always verify against primary sources. Never cite a paper without reading it.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1920240"/>
            <a:ext cx="3703320" cy="2286000"/>
          </a:xfrm>
          <a:prstGeom prst="rect">
            <a:avLst/>
          </a:prstGeom>
          <a:solidFill>
            <a:srgbClr val="0A1F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617720" y="21488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860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167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223760" y="22402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7223760" y="22402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617720" y="28346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training data cutoffs. Climate science moves fast. Check whether a model knows about recent IPCC reports or new datasets.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0" y="1920240"/>
            <a:ext cx="3703320" cy="2286000"/>
          </a:xfrm>
          <a:prstGeom prst="rect">
            <a:avLst/>
          </a:prstGeom>
          <a:solidFill>
            <a:srgbClr val="0A1F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458200" y="21488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2860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0" y="2167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11064240" y="22402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11064240" y="22402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458200" y="28346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confidential fieldwork, unpublished results, or collaborator data into public AI tools. Use local or private deployments.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343400"/>
            <a:ext cx="3703320" cy="2286000"/>
          </a:xfrm>
          <a:prstGeom prst="rect">
            <a:avLst/>
          </a:prstGeom>
          <a:solidFill>
            <a:srgbClr val="0A1F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777240" y="45720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0916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63040" y="4590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3383280" y="4663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3383280" y="4663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77240" y="5257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 inference is energy-intensive. Use smaller models for simple tasks, batch queries, and consider environmental cost of compute.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389120" y="4343400"/>
            <a:ext cx="3703320" cy="2286000"/>
          </a:xfrm>
          <a:prstGeom prst="rect">
            <a:avLst/>
          </a:prstGeom>
          <a:solidFill>
            <a:srgbClr val="0A1F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4617720" y="45720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70916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03520" y="4590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7223760" y="4663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7223760" y="4663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617720" y="5257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institution's and journal's AI disclosure policies. Be transparent in your methods section. AI is a tool, not an author.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229600" y="4343400"/>
            <a:ext cx="3703320" cy="2286000"/>
          </a:xfrm>
          <a:prstGeom prst="rect">
            <a:avLst/>
          </a:prstGeom>
          <a:solidFill>
            <a:srgbClr val="0A1F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4"/>
          <p:cNvSpPr/>
          <p:nvPr/>
        </p:nvSpPr>
        <p:spPr>
          <a:xfrm>
            <a:off x="8458200" y="45720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4709160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144000" y="4590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500" dirty="0"/>
          </a:p>
        </p:txBody>
      </p:sp>
      <p:sp>
        <p:nvSpPr>
          <p:cNvPr id="44" name="Shape 36"/>
          <p:cNvSpPr/>
          <p:nvPr/>
        </p:nvSpPr>
        <p:spPr>
          <a:xfrm>
            <a:off x="11064240" y="4663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7"/>
          <p:cNvSpPr/>
          <p:nvPr/>
        </p:nvSpPr>
        <p:spPr>
          <a:xfrm>
            <a:off x="11064240" y="4663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8458200" y="5257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entrench biases and miss domain-specific nuance. You are the expert. Use AI to augment, not replace, your scientific judgment.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Now — 4 Exercises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one — or work through all four. Notebooks and prompts provided.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822960" cy="2103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1554480" y="22402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5448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26771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560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Makeover Challenge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54480" y="2926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vague climate prompt and rebuild it using R-C-T-F. Compare results with a partner — whose version got better output?</a:t>
            </a:r>
            <a:endParaRPr lang="en-US" sz="10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74904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490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prompts_to_makeover.md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291072" y="205740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291072" y="2057400"/>
            <a:ext cx="822960" cy="2103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6291072" y="205740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6400" dirty="0"/>
          </a:p>
        </p:txBody>
      </p:sp>
      <p:sp>
        <p:nvSpPr>
          <p:cNvPr id="21" name="Shape 16"/>
          <p:cNvSpPr/>
          <p:nvPr/>
        </p:nvSpPr>
        <p:spPr>
          <a:xfrm>
            <a:off x="7296912" y="22402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7296912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267712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96912" y="2560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a Climate Script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296912" y="2926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exercise_B_debug.ipynb with 3 intentional bugs in an ERA5 analysis. Use Claude or ChatGPT to find and fix each. Document your prompting strategy.</a:t>
            </a:r>
            <a:endParaRPr lang="en-US" sz="10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3749040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25512" y="37490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exercise_B_debug.ipynb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48640" y="4325112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548640" y="4325112"/>
            <a:ext cx="822960" cy="2103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/>
          <p:nvPr/>
        </p:nvSpPr>
        <p:spPr>
          <a:xfrm>
            <a:off x="548640" y="4325112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400" dirty="0"/>
          </a:p>
        </p:txBody>
      </p:sp>
      <p:sp>
        <p:nvSpPr>
          <p:cNvPr id="32" name="Shape 25"/>
          <p:cNvSpPr/>
          <p:nvPr/>
        </p:nvSpPr>
        <p:spPr>
          <a:xfrm>
            <a:off x="1554480" y="45079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/>
          <p:nvPr/>
        </p:nvSpPr>
        <p:spPr>
          <a:xfrm>
            <a:off x="1554480" y="4507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535424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554480" y="4828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Synthesis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1554480" y="51937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two provided abstracts on ENSO teleconnections. Ask AI to compare methods, datasets, and findings. Then fact-check at least one claim.</a:t>
            </a:r>
            <a:endParaRPr lang="en-US" sz="105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6016752"/>
            <a:ext cx="201168" cy="20116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783080" y="60167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ENSO_abstracts.md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291072" y="4325112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2"/>
          <p:cNvSpPr/>
          <p:nvPr/>
        </p:nvSpPr>
        <p:spPr>
          <a:xfrm>
            <a:off x="6291072" y="4325112"/>
            <a:ext cx="822960" cy="2103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3"/>
          <p:cNvSpPr/>
          <p:nvPr/>
        </p:nvSpPr>
        <p:spPr>
          <a:xfrm>
            <a:off x="6291072" y="4325112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6400" dirty="0"/>
          </a:p>
        </p:txBody>
      </p:sp>
      <p:sp>
        <p:nvSpPr>
          <p:cNvPr id="43" name="Shape 34"/>
          <p:cNvSpPr/>
          <p:nvPr/>
        </p:nvSpPr>
        <p:spPr>
          <a:xfrm>
            <a:off x="7296912" y="45079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5"/>
          <p:cNvSpPr/>
          <p:nvPr/>
        </p:nvSpPr>
        <p:spPr>
          <a:xfrm>
            <a:off x="7296912" y="4507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4535424"/>
            <a:ext cx="201168" cy="20116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296912" y="4828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Data Pipeline</a:t>
            </a:r>
            <a:endParaRPr lang="en-US" sz="1600" dirty="0"/>
          </a:p>
        </p:txBody>
      </p:sp>
      <p:sp>
        <p:nvSpPr>
          <p:cNvPr id="48" name="Text 38"/>
          <p:cNvSpPr/>
          <p:nvPr/>
        </p:nvSpPr>
        <p:spPr>
          <a:xfrm>
            <a:off x="7296912" y="51937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exercise_D_pipeline.ipynb as a starter. Prompt the AI step-by-step to download, process, and visualize CMIP6 projections for your region of interest.</a:t>
            </a:r>
            <a:endParaRPr lang="en-US" sz="105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6016752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7525512" y="60167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exercise_D_pipeline.ipynb</a:t>
            </a:r>
            <a:endParaRPr lang="en-US" sz="950" dirty="0"/>
          </a:p>
        </p:txBody>
      </p:sp>
      <p:sp>
        <p:nvSpPr>
          <p:cNvPr id="51" name="Shape 4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2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836804E5-10F4-57C1-6B16-7ABB51187428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2743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 •  BEGINNER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Makeover Challenge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76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0876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transforming a vague request into a strong one using the R-C-T-F framework — and verify the difference shows up in the actual output.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19456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679192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15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AI chat tool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Claude.ai, ChatGPT, or whichever you prefer. Start a fresh chat.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3392424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3152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34440" y="3319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weak prompt first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3593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one of the starter prompts on the right. Note the response — likely vague.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4105656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3152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34440" y="4032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using R-C-T-F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34440" y="43068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Role, Context, Task specifics, and Format. Aim for 4–8 sentences.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1520" y="4818888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3152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34440" y="4745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strong version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34440" y="50200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as a NEW message (or in a new chat) and compare outputs.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234440" y="5458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 a partner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234440" y="5733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your best prompt. Did theirs reveal a detail you missed?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217920" y="2194560"/>
            <a:ext cx="5440680" cy="4206240"/>
          </a:xfrm>
          <a:prstGeom prst="rect">
            <a:avLst/>
          </a:prstGeom>
          <a:solidFill>
            <a:srgbClr val="F0F9FF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PROMPTS  (pick one)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46520" y="260604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"Help me with my climate data."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"Make a map of ocean temperatures."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"Summarize this paper."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"Why is my code broken?"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"Tell me about climate change."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"Write a Python script for some analysis."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446520" y="5257800"/>
            <a:ext cx="5029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583680" y="5330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583680" y="5532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part (R, C, T, or F) changed the output the most?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Did adding constraints help or hurt creativity?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41" name="Text 46">
            <a:extLst>
              <a:ext uri="{FF2B5EF4-FFF2-40B4-BE49-F238E27FC236}">
                <a16:creationId xmlns:a16="http://schemas.microsoft.com/office/drawing/2014/main" id="{9B48C995-59F3-C769-7DBD-074A1D0D8907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2743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 •  INTERMEDIATE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a Climate Script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76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0876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AI assistant to find and fix 3 intentional bugs in an ERA5 temperature analysis notebook. Document the prompt strategy that worked.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194560"/>
            <a:ext cx="5486400" cy="4206240"/>
          </a:xfrm>
          <a:prstGeom prst="rect">
            <a:avLst/>
          </a:prstGeom>
          <a:solidFill>
            <a:srgbClr val="0B192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042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exercise_B_debug.ipynb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BUGS TO FIND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7724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8288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dimension in .mean()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7240" y="33558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averages over ALL dimensions, collapsing lat/lon. Should use dim='time'.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7724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82880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Climatology window mismatch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77240" y="44074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uses 1979–2023 as the baseline — should be the WMO 1991–2020 standard reference period.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7724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#3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828800" y="5166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confusion (K vs °C)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77240" y="54589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a Celsius constant from Kelvin values, producing nonsense anomalies.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17920" y="2194560"/>
            <a:ext cx="5440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46520" y="2688336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4465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858000" y="26517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exercise_B_debug.ipynb in Jupyter or Colab.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46520" y="304495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644652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858000" y="30083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notebook — note errors and suspicious outputs.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446520" y="340156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44652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858000" y="33649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each buggy cell + the traceback into your AI tool.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446520" y="375818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644652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858000" y="37216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fix, re-run, verify the corrected output.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446520" y="411480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64465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858000" y="40782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in the notebook describing each fix.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217920" y="4663440"/>
            <a:ext cx="5440680" cy="173736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6446520" y="4736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PROMPT TEMPLATE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446520" y="502920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analyzing ERA5 monthly t2m, 1979–2023. Here is my code [paste cell] and the output [paste traceback or wrong values]. The expected result is [describe]. What's the bug, and show me the corrected cell with comments explaining the change."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47" name="Text 46">
            <a:extLst>
              <a:ext uri="{FF2B5EF4-FFF2-40B4-BE49-F238E27FC236}">
                <a16:creationId xmlns:a16="http://schemas.microsoft.com/office/drawing/2014/main" id="{0166EA4C-5890-6DE4-3C4E-3CF60ACF3838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2743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 •  INTERMEDIATE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Synthesis with AI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76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0876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compare two ENSO teleconnection papers — methods, datasets, key findings — then fact-check at least one claim against the actual abstract.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19456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679192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15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ENSO_abstracts.md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abstracts on ENSO teleconnections to the North Atlantic and South Asia.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3392424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3152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34440" y="3319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both into AI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3593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or NotebookLM — both handle multi-document context well.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4105656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3152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34440" y="4032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structured comparison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34440" y="43068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period, key finding, stated limitations.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1520" y="4818888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3152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34440" y="4745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factual claim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34440" y="50200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AI quote it, then verify the wording in the source abstract.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234440" y="5458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AI confabulation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234440" y="5733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add anything not actually in the abstracts? Flag it.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217920" y="2194560"/>
            <a:ext cx="5440680" cy="228600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PROMPT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446520" y="260604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"Below are two abstracts on ENSO teleconnections. For each, extract: (1) research question, (2) datasets and time period, (3) statistical methods, (4) key quantitative finding, (5) stated limitations. Then write a short paragraph comparing where they agree and where they diverge."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217920" y="461772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736592"/>
            <a:ext cx="256032" cy="25603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720840" y="4690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CHECKLIST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446520" y="502920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AI quote a number that actually appears in the abstract?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correctly attribute methods to the right paper?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invent a citation or co-author that isn't there?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overstate confidence ("proves" vs. "suggests")?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42" name="Text 46">
            <a:extLst>
              <a:ext uri="{FF2B5EF4-FFF2-40B4-BE49-F238E27FC236}">
                <a16:creationId xmlns:a16="http://schemas.microsoft.com/office/drawing/2014/main" id="{FC78F1F9-D5D7-1D50-667D-CFC9C0E1B7C7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2743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 •  ADVANCED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594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CMIP6 Data Pipeline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371600"/>
            <a:ext cx="10500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step-by-step to write a working pipeline: download a CMIP6 projection, regrid it, compute regional warming, and produce a publication-style figure.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623060" y="2075688"/>
            <a:ext cx="548640" cy="548640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62306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CMIP6 tas variable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 SSP scenarios via Pangeo or ESGF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944368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410712" y="23317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485132" y="2075688"/>
            <a:ext cx="548640" cy="548640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485132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593592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593592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Regrid to a common 1°×1°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grid; mask to your region of interest</a:t>
            </a:r>
            <a:endParaRPr lang="en-US" sz="10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944368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72784" y="23317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347204" y="2075688"/>
            <a:ext cx="548640" cy="548640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7347204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455664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55664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decadal mean,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spread, signal-to-noise</a:t>
            </a:r>
            <a:endParaRPr lang="en-US" sz="10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264" y="2944368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134856" y="23317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  <a:effectLst>
            <a:outerShdw blurRad="63500" dist="12700" dir="81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10209276" y="2075688"/>
            <a:ext cx="548640" cy="548640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10209276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317736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17736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Cartopy map of warming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stippling for model agreement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48640" y="3931920"/>
            <a:ext cx="5486400" cy="2468880"/>
          </a:xfrm>
          <a:prstGeom prst="rect">
            <a:avLst/>
          </a:prstGeom>
          <a:solidFill>
            <a:srgbClr val="0B1929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548640" y="3931920"/>
            <a:ext cx="5486400" cy="4572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41648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5156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CD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exercise_D_pipeline.ipynb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7724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NOTEBOOK INCLUDES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77240" y="48006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imports (xarray, intake-esm, xesmf, cartopy)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Pangeo CMIP6 catalog already loaded — just pick variables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cells with TODO comments for each pipeline stage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"good" figure at the bottom to compare against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small NetCDF sample if you don't have internet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217920" y="3931920"/>
            <a:ext cx="5440680" cy="2468880"/>
          </a:xfrm>
          <a:prstGeom prst="rect">
            <a:avLst/>
          </a:prstGeom>
          <a:solidFill>
            <a:srgbClr val="FFF1F2"/>
          </a:solidFill>
          <a:ln w="95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3"/>
          <p:cNvSpPr/>
          <p:nvPr/>
        </p:nvSpPr>
        <p:spPr>
          <a:xfrm>
            <a:off x="644652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STRATEGY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6446520" y="4343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one stage at a time.  </a:t>
            </a:r>
            <a:r>
              <a:rPr lang="en-US" sz="1100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ask for the whole pipeline in one message — you'll get plausible-looking but broken code.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your environment.  </a:t>
            </a:r>
            <a:r>
              <a:rPr lang="en-US" sz="1100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xarray 2024, xesmf 0.8, conservative regridding."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report back.  </a:t>
            </a:r>
            <a:r>
              <a:rPr lang="en-US" sz="1100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running a cell, paste the actual output (or error) back into the chat before asking for the next step.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45" name="Text 46">
            <a:extLst>
              <a:ext uri="{FF2B5EF4-FFF2-40B4-BE49-F238E27FC236}">
                <a16:creationId xmlns:a16="http://schemas.microsoft.com/office/drawing/2014/main" id="{613FAE8F-5804-4E50-65CD-04C3EA01F76D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MATERIALS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 before the hands-on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are in the workshop bundle — load them locally or in Colab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9436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THE BUNDLE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487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331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exercise_B_debug.ipynb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37744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343400" y="23774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8872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with 3 intentional ERA5 bugs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7180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898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exercise_D_pipeline.ipynb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43400" y="294436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343400" y="2944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88720" y="3172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CMIP6 pipeline with TODO cells</a:t>
            </a:r>
            <a:endParaRPr lang="en-US" sz="10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3872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4655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prompts_to_makeover.md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343400" y="3511296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4343400" y="3511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88720" y="3739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weak prompts to rebuild in Exercise A</a:t>
            </a:r>
            <a:endParaRPr lang="en-US" sz="10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0565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4032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ENSO_abstracts.md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43400" y="407822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4343400" y="4078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88720" y="4306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abstracts on ENSO teleconnections</a:t>
            </a:r>
            <a:endParaRPr lang="en-US" sz="10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72584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4599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sample_era5.nc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43400" y="4645152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/>
          <p:nvPr/>
        </p:nvSpPr>
        <p:spPr>
          <a:xfrm>
            <a:off x="4343400" y="46451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88720" y="4873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ERA5 subset for offline debugging</a:t>
            </a:r>
            <a:endParaRPr lang="en-US" sz="10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39512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88720" y="5166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4343400" y="521208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/>
          <p:nvPr/>
        </p:nvSpPr>
        <p:spPr>
          <a:xfrm>
            <a:off x="4343400" y="5212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188720" y="5440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Python deps — xarray, cartopy, xesmf</a:t>
            </a:r>
            <a:endParaRPr lang="en-US" sz="105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806440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88720" y="5733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4343400" y="577900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2"/>
          <p:cNvSpPr/>
          <p:nvPr/>
        </p:nvSpPr>
        <p:spPr>
          <a:xfrm>
            <a:off x="4343400" y="5779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1188720" y="6007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instructions for Jupyter &amp; Colab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6675120" y="1874520"/>
            <a:ext cx="4983480" cy="21945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993392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23760" y="1947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 •  GOOGLE COLAB  (fastest)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690372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installation. Open each .ipynb in Colab, run the first cell to install pinned packages, and go.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6903720" y="2971800"/>
            <a:ext cx="4526280" cy="411480"/>
          </a:xfrm>
          <a:prstGeom prst="rect">
            <a:avLst/>
          </a:prstGeom>
          <a:solidFill>
            <a:srgbClr val="020617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38"/>
          <p:cNvSpPr/>
          <p:nvPr/>
        </p:nvSpPr>
        <p:spPr>
          <a:xfrm>
            <a:off x="6995160" y="2971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colab.research.google.com  →  Upload notebook</a:t>
            </a:r>
            <a:endParaRPr lang="en-US" sz="1050" dirty="0"/>
          </a:p>
        </p:txBody>
      </p:sp>
      <p:sp>
        <p:nvSpPr>
          <p:cNvPr id="49" name="Text 39"/>
          <p:cNvSpPr/>
          <p:nvPr/>
        </p:nvSpPr>
        <p:spPr>
          <a:xfrm>
            <a:off x="690372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participants without local Python.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6675120" y="4206240"/>
            <a:ext cx="4983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325112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223760" y="4279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 •  LOCAL JUPYTER</a:t>
            </a:r>
            <a:endParaRPr lang="en-US" sz="1100" dirty="0"/>
          </a:p>
        </p:txBody>
      </p:sp>
      <p:sp>
        <p:nvSpPr>
          <p:cNvPr id="53" name="Text 42"/>
          <p:cNvSpPr/>
          <p:nvPr/>
        </p:nvSpPr>
        <p:spPr>
          <a:xfrm>
            <a:off x="6903720" y="4617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fresh conda environment to avoid breaking your research env:</a:t>
            </a:r>
            <a:endParaRPr lang="en-US" sz="1100" dirty="0"/>
          </a:p>
        </p:txBody>
      </p:sp>
      <p:sp>
        <p:nvSpPr>
          <p:cNvPr id="54" name="Shape 43"/>
          <p:cNvSpPr/>
          <p:nvPr/>
        </p:nvSpPr>
        <p:spPr>
          <a:xfrm>
            <a:off x="6903720" y="5074920"/>
            <a:ext cx="4526280" cy="118872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4"/>
          <p:cNvSpPr/>
          <p:nvPr/>
        </p:nvSpPr>
        <p:spPr>
          <a:xfrm>
            <a:off x="6995160" y="51206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leap python=3.11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leap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lab</a:t>
            </a:r>
            <a:endParaRPr lang="en-US" sz="1100" dirty="0"/>
          </a:p>
        </p:txBody>
      </p:sp>
      <p:sp>
        <p:nvSpPr>
          <p:cNvPr id="56" name="Shape 4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47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076221E1-2B79-AAB1-9C30-8C377F1A84D6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take with you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multiplier, not a replacement.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48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domain expertise is what makes AI outputs actually useful in climate science.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quality determines output quality.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017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time in specific, context-rich prompts. Use R-C-T-F as your floor, not your ceiling.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everything.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886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are real. Treat AI like a brilliant but sometimes-confused colleague.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 matters more than the tool.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tools come and go. Learning HOW to collaborate with AI is the durable skill.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Start this week.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repetitive task in your workflow and experiment with AI assistance now.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the LEAP team for assistance during your time at the bootcamp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FURTHER READING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go next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courses, and climate-AI communities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7033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7033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7432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claude.ai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30358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34564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chat.openai.com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7490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41696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notebooklm.google.com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44622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48828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elicit.org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51755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" y="55961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perplexity.ai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58887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citations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16552" y="1874520"/>
            <a:ext cx="37033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416552" y="1874520"/>
            <a:ext cx="37033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057400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02352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645152" y="27432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Anthropic Prompt Engineering Guide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19472" y="30358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645152" y="34564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OpenAI Cookbook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919472" y="37490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examples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645152" y="41696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"Prompt Engineering for Scientists"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919472" y="44622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2024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645152" y="48828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fast.ai Practical Deep Learning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919472" y="51755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course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645152" y="55961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LearnPrompting.org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919472" y="58887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curriculum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284464" y="1874520"/>
            <a:ext cx="37033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1"/>
          <p:cNvSpPr/>
          <p:nvPr/>
        </p:nvSpPr>
        <p:spPr>
          <a:xfrm>
            <a:off x="8284464" y="1874520"/>
            <a:ext cx="37033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2057400"/>
            <a:ext cx="292608" cy="29260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970264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AI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8513064" y="27432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WeatherBench 2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8787384" y="30358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benchmark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8513064" y="34564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ClimateBench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8787384" y="37490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emulator benchmark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8513064" y="41696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CMIP6 + AI workshop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787384" y="44622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proceedings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513064" y="48828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ECMWF AI blog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8787384" y="51755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insights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8513064" y="55961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ClimateChange.AI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8787384" y="58887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papers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1091153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14786C6A-2419-5EA5-0568-2A060A503A36}"/>
              </a:ext>
            </a:extLst>
          </p:cNvPr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Ayon Roy – 29</a:t>
            </a:r>
            <a:r>
              <a:rPr lang="en-US" sz="9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24248" y="393192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Climate Data Science Bootcamp –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Suumer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Ayon Roy</a:t>
            </a:r>
          </a:p>
          <a:p>
            <a:pPr marL="0" indent="0" algn="ctr">
              <a:buNone/>
            </a:pP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ayon.roy@columbia.edu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3713</Words>
  <Application>Microsoft Office PowerPoint</Application>
  <PresentationFormat>Widescreen</PresentationFormat>
  <Paragraphs>555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Tips &amp; Tricks for Climate Science Research</dc:title>
  <dc:subject>PptxGenJS Presentation</dc:subject>
  <dc:creator>Ayon Roy — LeAp Columbia</dc:creator>
  <cp:lastModifiedBy>Ayon Roy</cp:lastModifiedBy>
  <cp:revision>4</cp:revision>
  <dcterms:created xsi:type="dcterms:W3CDTF">2026-05-29T11:06:17Z</dcterms:created>
  <dcterms:modified xsi:type="dcterms:W3CDTF">2026-05-29T11:34:18Z</dcterms:modified>
</cp:coreProperties>
</file>